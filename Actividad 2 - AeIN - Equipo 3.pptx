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56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092791-2AE1-4CFA-BB61-79C7F17C9862}" v="1" dt="2023-11-16T21:14:15.2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4889E-B4A2-4276-90FC-93DCB3479785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C549D-C555-46BC-B2D6-9133FB29725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348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4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213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512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42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0836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642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33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907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502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181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54677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DE347-0AC1-40EE-859F-C053F12F91FD}" type="datetimeFigureOut">
              <a:rPr lang="es-MX" smtClean="0"/>
              <a:t>19/01/2026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3D1BF-DF0C-45A9-9234-414B16457E5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602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691640"/>
            <a:ext cx="9326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A5634"/>
                </a:solidFill>
                <a:latin typeface="Calibri"/>
              </a:rPr>
              <a:t>Actividad 2. Retail. Empresa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Analítica e Inteligencia de Negocios · Módulo Netacad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52044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Prof. Miguel Ángel Gómez Marroquín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5F5F"/>
                </a:solidFill>
                <a:latin typeface="Calibri"/>
              </a:rPr>
              <a:t>04 / 09 /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3383280"/>
            <a:ext cx="4206240" cy="169164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16368" y="3566160"/>
            <a:ext cx="371246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EQUIPO 3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Antonio André Martínez Martínez   </a:t>
            </a:r>
            <a:r>
              <a:rPr sz="1150" b="1">
                <a:solidFill>
                  <a:srgbClr val="1A5634"/>
                </a:solidFill>
                <a:latin typeface="Calibri"/>
              </a:rPr>
              <a:t>2094967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Erick Morán Guillén   </a:t>
            </a:r>
            <a:r>
              <a:rPr sz="1150" b="1">
                <a:solidFill>
                  <a:srgbClr val="1A5634"/>
                </a:solidFill>
                <a:latin typeface="Calibri"/>
              </a:rPr>
              <a:t>2103747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Jean Leo Ramírez   </a:t>
            </a:r>
            <a:r>
              <a:rPr sz="1150" b="1">
                <a:solidFill>
                  <a:srgbClr val="1A5634"/>
                </a:solidFill>
                <a:latin typeface="Calibri"/>
              </a:rPr>
              <a:t>2102785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MODELADO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1) Diagrama ER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956816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A5634"/>
                </a:solidFill>
                <a:latin typeface="Calibri"/>
              </a:rPr>
              <a:t>Proceso de negocio modelado: </a:t>
            </a:r>
            <a:r>
              <a:rPr sz="1150" b="0">
                <a:solidFill>
                  <a:srgbClr val="333333"/>
                </a:solidFill>
                <a:latin typeface="Calibri"/>
              </a:rPr>
              <a:t>la venta al detalle de mercancía de moda a consumidor final, en tienda física, app, e-commerce y click &amp; collect, incluyendo sus devoluciones.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2395728"/>
          <a:ext cx="1033272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5669280"/>
                <a:gridCol w="274320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Entidad</a:t>
                      </a:r>
                    </a:p>
                  </a:txBody>
                  <a:tcPr marL="91440" marR="73152" marT="27432" marB="27432" anchor="ctr">
                    <a:solidFill>
                      <a:srgbClr val="1A5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Qué representa</a:t>
                      </a:r>
                    </a:p>
                  </a:txBody>
                  <a:tcPr marL="91440" marR="73152" marT="27432" marB="27432" anchor="ctr">
                    <a:solidFill>
                      <a:srgbClr val="1A5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marL="91440" marR="73152" marT="27432" marB="27432" anchor="ctr">
                    <a:solidFill>
                      <a:srgbClr val="1A563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Consumidor final con nivel de lealtad.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¿A quién se le vende?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ORDEN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El evento de venta completo.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LÍNEA DE ORDEN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Cada renglón de la venta, con cantidad y precio.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VARIANTE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La combinación talla–color–SKU que se lleva el cliente.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¿Qué se vende?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Agrupa variantes; aporta categoría, colección, temporada y marca.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¿Qué se vende?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SUCURSAL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Punto donde se origina la venta o se entrega la mercancía.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¿Quién vende? / ¿Dónde?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REGIÓN COMERCIAL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Agrupación geográfica de sucursales.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¿Dónde?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CANAL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Medio por el que se concretó la venta.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¿Por qué canal?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Fecha y temporada comercial del hecho.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¿Cuándo?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CUPÓN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Instrumento promocional aplicado a la compra.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5634"/>
                          </a:solidFill>
                          <a:latin typeface="Calibri"/>
                        </a:rPr>
                        <a:t>DEVOLUCIÓN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Retorno total o parcial de mercancía vendida.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F5F5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MODELADO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Relaciones de negocio y decisiones clave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011680"/>
            <a:ext cx="10332720" cy="118872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417320" y="2194560"/>
            <a:ext cx="9784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El CLIENTE realiza ÓRDENES; cada ORDEN se compone de LÍNEAS; cada LÍNEA contiene una VARIANTE, que pertenece a un PRODUCTO. La ORDEN se vende en una SUCURSAL y se entrega en otra (dos roles distintos), se realiza por un CANAL, ocurre en un TIEMPO y puede aplicar CUPONES. Cada LÍNEA puede generar DEVOLUCIONES, que se reciben en una SUCURSAL. Toda SUCURSAL pertenece a una REGIÓN.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93008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1A5634"/>
                </a:solidFill>
                <a:latin typeface="Calibri"/>
              </a:rPr>
              <a:t>Decisiones clave del modelo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3D7A52"/>
                </a:solidFill>
                <a:latin typeface="Calibri"/>
              </a:rPr>
              <a:t>1. </a:t>
            </a:r>
            <a:r>
              <a:rPr sz="1200" b="1">
                <a:solidFill>
                  <a:srgbClr val="1A5634"/>
                </a:solidFill>
                <a:latin typeface="Calibri"/>
              </a:rPr>
              <a:t>VARIANTE se separa de PRODUCTO </a:t>
            </a:r>
            <a:r>
              <a:rPr sz="1200" b="0">
                <a:solidFill>
                  <a:srgbClr val="333333"/>
                </a:solidFill>
                <a:latin typeface="Calibri"/>
              </a:rPr>
              <a:t>porque el cliente exige análisis por talla y color, no por producto general.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3D7A52"/>
                </a:solidFill>
                <a:latin typeface="Calibri"/>
              </a:rPr>
              <a:t>2. </a:t>
            </a:r>
            <a:r>
              <a:rPr sz="1200" b="1">
                <a:solidFill>
                  <a:srgbClr val="1A5634"/>
                </a:solidFill>
                <a:latin typeface="Calibri"/>
              </a:rPr>
              <a:t>SUCURSAL participa dos veces con roles distintos </a:t>
            </a:r>
            <a:r>
              <a:rPr sz="1200" b="0">
                <a:solidFill>
                  <a:srgbClr val="333333"/>
                </a:solidFill>
                <a:latin typeface="Calibri"/>
              </a:rPr>
              <a:t>(venta y entrega); sin eso, click &amp; collect es indistinguible de una venta online.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3D7A52"/>
                </a:solidFill>
                <a:latin typeface="Calibri"/>
              </a:rPr>
              <a:t>3. </a:t>
            </a:r>
            <a:r>
              <a:rPr sz="1200" b="1">
                <a:solidFill>
                  <a:srgbClr val="1A5634"/>
                </a:solidFill>
                <a:latin typeface="Calibri"/>
              </a:rPr>
              <a:t>DEVOLUCIÓN es entidad propia, no atributo </a:t>
            </a:r>
            <a:r>
              <a:rPr sz="1200" b="0">
                <a:solidFill>
                  <a:srgbClr val="333333"/>
                </a:solidFill>
                <a:latin typeface="Calibri"/>
              </a:rPr>
              <a:t>tiene fecha, sucursal y motivo propios y puede ser parcial.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3D7A52"/>
                </a:solidFill>
                <a:latin typeface="Calibri"/>
              </a:rPr>
              <a:t>4. </a:t>
            </a:r>
            <a:r>
              <a:rPr sz="1200" b="1">
                <a:solidFill>
                  <a:srgbClr val="1A5634"/>
                </a:solidFill>
                <a:latin typeface="Calibri"/>
              </a:rPr>
              <a:t>CANAL se separa de SUCURSAL </a:t>
            </a:r>
            <a:r>
              <a:rPr sz="1200" b="0">
                <a:solidFill>
                  <a:srgbClr val="333333"/>
                </a:solidFill>
                <a:latin typeface="Calibri"/>
              </a:rPr>
              <a:t>para que un pedido e-commerce sin tienda física no genere nulos ambiguos.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14400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5634"/>
                </a:solidFill>
                <a:latin typeface="Calibri"/>
              </a:rPr>
              <a:t>1) Diagrama ER Conceptual</a:t>
            </a:r>
          </a:p>
        </p:txBody>
      </p:sp>
      <p:pic>
        <p:nvPicPr>
          <p:cNvPr id="3" name="Picture 2" descr="conceptual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826" y="1389888"/>
            <a:ext cx="836506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14400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5634"/>
                </a:solidFill>
                <a:latin typeface="Calibri"/>
              </a:rPr>
              <a:t>2) Diagrama ER Lógico</a:t>
            </a:r>
          </a:p>
        </p:txBody>
      </p:sp>
      <p:pic>
        <p:nvPicPr>
          <p:cNvPr id="3" name="Picture 2" descr="logic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62" y="1389888"/>
            <a:ext cx="731059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MODELADO 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Relaciones N:M detectadas y su resolución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011680"/>
            <a:ext cx="3310128" cy="251460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80744" y="2231136"/>
            <a:ext cx="2834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ORDEN ↔ VARIANTE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</a:rPr>
              <a:t>se resuelve con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03A3E"/>
                </a:solidFill>
                <a:latin typeface="Calibri"/>
              </a:rPr>
              <a:t>ORDEN_DETALLE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33333"/>
                </a:solidFill>
                <a:latin typeface="Calibri"/>
              </a:rPr>
              <a:t>Llave compuesta: </a:t>
            </a:r>
            <a:r>
              <a:rPr sz="1050" b="0">
                <a:solidFill>
                  <a:srgbClr val="333333"/>
                </a:solidFill>
                <a:latin typeface="Calibri"/>
              </a:rPr>
              <a:t>(orden_id, linea_num)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Se resuelve ahí porque cantidad y precios son atributos de la relación, no de la orden ni de la variante.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4296" y="2011680"/>
            <a:ext cx="3310128" cy="251460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892040" y="2231136"/>
            <a:ext cx="2834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ORDEN ↔ CUPÓN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</a:rPr>
              <a:t>se resuelve con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03A3E"/>
                </a:solidFill>
                <a:latin typeface="Calibri"/>
              </a:rPr>
              <a:t>ORDEN_CUPON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33333"/>
                </a:solidFill>
                <a:latin typeface="Calibri"/>
              </a:rPr>
              <a:t>Llave compuesta: </a:t>
            </a:r>
            <a:r>
              <a:rPr sz="1050" b="0">
                <a:solidFill>
                  <a:srgbClr val="333333"/>
                </a:solidFill>
                <a:latin typeface="Calibri"/>
              </a:rPr>
              <a:t>(orden_id, cupon_id)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Una orden puede usar varios cupones y un cupón se usa en muchas órdenes; el importe aplicado es atributo de la relación.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2011680"/>
            <a:ext cx="3310128" cy="251460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03336" y="2231136"/>
            <a:ext cx="2834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CLIENTE ↔ ORDEN (puntos)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F5F5F"/>
                </a:solidFill>
                <a:latin typeface="Calibri"/>
              </a:rPr>
              <a:t>se resuelve con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03A3E"/>
                </a:solidFill>
                <a:latin typeface="Calibri"/>
              </a:rPr>
              <a:t>MOVIMIENTO_LEALTAD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33333"/>
                </a:solidFill>
                <a:latin typeface="Calibri"/>
              </a:rPr>
              <a:t>Llave compuesta: </a:t>
            </a:r>
            <a:r>
              <a:rPr sz="1050" b="0">
                <a:solidFill>
                  <a:srgbClr val="333333"/>
                </a:solidFill>
                <a:latin typeface="Calibri"/>
              </a:rPr>
              <a:t>movimiento_id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El saldo de puntos no es un atributo estático del cliente sino el resultado de acumulaciones y redenciones en distintas órdenes.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MODELADO 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A5634"/>
                </a:solidFill>
                <a:latin typeface="Calibri"/>
              </a:rPr>
              <a:t>Reglas de negocio que justifican las relaciones y cardinalidades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Un producto tiene múltiples variantes de talla y color</a:t>
            </a:r>
          </a:p>
          <a:p>
            <a:pPr>
              <a:spcAft>
                <a:spcPts val="1300"/>
              </a:spcAft>
            </a:pPr>
            <a:r>
              <a:rPr sz="1150" b="0">
                <a:solidFill>
                  <a:srgbClr val="3D7A52"/>
                </a:solidFill>
                <a:latin typeface="Calibri"/>
              </a:rPr>
              <a:t>→  </a:t>
            </a:r>
            <a:r>
              <a:rPr sz="1150" b="1">
                <a:solidFill>
                  <a:srgbClr val="1A5634"/>
                </a:solidFill>
                <a:latin typeface="Calibri"/>
              </a:rPr>
              <a:t>PRODUCTO 1:N VARIANTE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Las ventas conservan temporada y colección</a:t>
            </a:r>
          </a:p>
          <a:p>
            <a:pPr>
              <a:spcAft>
                <a:spcPts val="1300"/>
              </a:spcAft>
            </a:pPr>
            <a:r>
              <a:rPr sz="1150" b="0">
                <a:solidFill>
                  <a:srgbClr val="3D7A52"/>
                </a:solidFill>
                <a:latin typeface="Calibri"/>
              </a:rPr>
              <a:t>→  </a:t>
            </a:r>
            <a:r>
              <a:rPr sz="1150" b="1">
                <a:solidFill>
                  <a:srgbClr val="1A5634"/>
                </a:solidFill>
                <a:latin typeface="Calibri"/>
              </a:rPr>
              <a:t>Atributos en PRODUCTO, alcanzables desde ORDEN_DETALLE vía VARIANTE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El cliente usa cupones y puntos</a:t>
            </a:r>
          </a:p>
          <a:p>
            <a:pPr>
              <a:spcAft>
                <a:spcPts val="1300"/>
              </a:spcAft>
            </a:pPr>
            <a:r>
              <a:rPr sz="1150" b="0">
                <a:solidFill>
                  <a:srgbClr val="3D7A52"/>
                </a:solidFill>
                <a:latin typeface="Calibri"/>
              </a:rPr>
              <a:t>→  </a:t>
            </a:r>
            <a:r>
              <a:rPr sz="1150" b="1">
                <a:solidFill>
                  <a:srgbClr val="1A5634"/>
                </a:solidFill>
                <a:latin typeface="Calibri"/>
              </a:rPr>
              <a:t>ORDEN_CUPON y MOVIMIENTO_LEALTAD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Una venta tiene múltiples líneas y devoluciones parciales</a:t>
            </a:r>
          </a:p>
          <a:p>
            <a:pPr>
              <a:spcAft>
                <a:spcPts val="1300"/>
              </a:spcAft>
            </a:pPr>
            <a:r>
              <a:rPr sz="1150" b="0">
                <a:solidFill>
                  <a:srgbClr val="3D7A52"/>
                </a:solidFill>
                <a:latin typeface="Calibri"/>
              </a:rPr>
              <a:t>→  </a:t>
            </a:r>
            <a:r>
              <a:rPr sz="1150" b="1">
                <a:solidFill>
                  <a:srgbClr val="1A5634"/>
                </a:solidFill>
                <a:latin typeface="Calibri"/>
              </a:rPr>
              <a:t>ORDEN 1:N ORDEN_DETALLE y ORDEN_DETALLE 1:N DEVOLUCION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Las devoluciones pueden ocurrir en otra sucursal</a:t>
            </a:r>
          </a:p>
          <a:p>
            <a:pPr>
              <a:spcAft>
                <a:spcPts val="1300"/>
              </a:spcAft>
            </a:pPr>
            <a:r>
              <a:rPr sz="1150" b="0">
                <a:solidFill>
                  <a:srgbClr val="3D7A52"/>
                </a:solidFill>
                <a:latin typeface="Calibri"/>
              </a:rPr>
              <a:t>→  </a:t>
            </a:r>
            <a:r>
              <a:rPr sz="1150" b="1">
                <a:solidFill>
                  <a:srgbClr val="1A5634"/>
                </a:solidFill>
                <a:latin typeface="Calibri"/>
              </a:rPr>
              <a:t>DEVOLUCION tiene FK sucursal_id propia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201168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El precio cambia por temporada, liquidación o promoción</a:t>
            </a:r>
          </a:p>
          <a:p>
            <a:pPr>
              <a:spcAft>
                <a:spcPts val="1300"/>
              </a:spcAft>
            </a:pPr>
            <a:r>
              <a:rPr sz="1150" b="0">
                <a:solidFill>
                  <a:srgbClr val="3D7A52"/>
                </a:solidFill>
                <a:latin typeface="Calibri"/>
              </a:rPr>
              <a:t>→  </a:t>
            </a:r>
            <a:r>
              <a:rPr sz="1150" b="1">
                <a:solidFill>
                  <a:srgbClr val="1A5634"/>
                </a:solidFill>
                <a:latin typeface="Calibri"/>
              </a:rPr>
              <a:t>PRECIO_VIGENTE guarda el histórico; ORDEN_DETALLE congela precio y descuento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Click &amp; collect se vende en línea y se entrega en tienda</a:t>
            </a:r>
          </a:p>
          <a:p>
            <a:pPr>
              <a:spcAft>
                <a:spcPts val="1300"/>
              </a:spcAft>
            </a:pPr>
            <a:r>
              <a:rPr sz="1150" b="0">
                <a:solidFill>
                  <a:srgbClr val="3D7A52"/>
                </a:solidFill>
                <a:latin typeface="Calibri"/>
              </a:rPr>
              <a:t>→  </a:t>
            </a:r>
            <a:r>
              <a:rPr sz="1150" b="1">
                <a:solidFill>
                  <a:srgbClr val="1A5634"/>
                </a:solidFill>
                <a:latin typeface="Calibri"/>
              </a:rPr>
              <a:t>Doble rol de SUCURSAL en ORDEN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Cada tienda pertenece a una región</a:t>
            </a:r>
          </a:p>
          <a:p>
            <a:pPr>
              <a:spcAft>
                <a:spcPts val="1300"/>
              </a:spcAft>
            </a:pPr>
            <a:r>
              <a:rPr sz="1150" b="0">
                <a:solidFill>
                  <a:srgbClr val="3D7A52"/>
                </a:solidFill>
                <a:latin typeface="Calibri"/>
              </a:rPr>
              <a:t>→  </a:t>
            </a:r>
            <a:r>
              <a:rPr sz="1150" b="1">
                <a:solidFill>
                  <a:srgbClr val="1A5634"/>
                </a:solidFill>
                <a:latin typeface="Calibri"/>
              </a:rPr>
              <a:t>REGION 1:N SUCURSAL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Debe distinguirse precio regular de liquidación</a:t>
            </a:r>
          </a:p>
          <a:p>
            <a:pPr>
              <a:spcAft>
                <a:spcPts val="1300"/>
              </a:spcAft>
            </a:pPr>
            <a:r>
              <a:rPr sz="1150" b="0">
                <a:solidFill>
                  <a:srgbClr val="3D7A52"/>
                </a:solidFill>
                <a:latin typeface="Calibri"/>
              </a:rPr>
              <a:t>→  </a:t>
            </a:r>
            <a:r>
              <a:rPr sz="1150" b="1">
                <a:solidFill>
                  <a:srgbClr val="1A5634"/>
                </a:solidFill>
                <a:latin typeface="Calibri"/>
              </a:rPr>
              <a:t>Atributo tipo_precio en ORDEN_DETALLE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MODELADO 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Supuestos documentados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0"/>
            <a:ext cx="103327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250" b="1">
                <a:solidFill>
                  <a:srgbClr val="3D7A52"/>
                </a:solidFill>
                <a:latin typeface="Calibri"/>
              </a:rPr>
              <a:t>1.  </a:t>
            </a:r>
            <a:r>
              <a:rPr sz="1250" b="0">
                <a:solidFill>
                  <a:srgbClr val="333333"/>
                </a:solidFill>
                <a:latin typeface="Calibri"/>
              </a:rPr>
              <a:t>Se normaliza region (venía como texto en la fuente SUCURSALES) a una tabla REGION.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3D7A52"/>
                </a:solidFill>
                <a:latin typeface="Calibri"/>
              </a:rPr>
              <a:t>2.  </a:t>
            </a:r>
            <a:r>
              <a:rPr sz="1250" b="0">
                <a:solidFill>
                  <a:srgbClr val="333333"/>
                </a:solidFill>
                <a:latin typeface="Calibri"/>
              </a:rPr>
              <a:t>Se agrega linea_num a ORDEN_DETALLE; sin él no se puede referenciar una devolución parcial a un renglón específico.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3D7A52"/>
                </a:solidFill>
                <a:latin typeface="Calibri"/>
              </a:rPr>
              <a:t>3.  </a:t>
            </a:r>
            <a:r>
              <a:rPr sz="1250" b="0">
                <a:solidFill>
                  <a:srgbClr val="333333"/>
                </a:solidFill>
                <a:latin typeface="Calibri"/>
              </a:rPr>
              <a:t>Se agrega tipo_precio, derivado comparando precio_venta contra el precio vigente de la fecha.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3D7A52"/>
                </a:solidFill>
                <a:latin typeface="Calibri"/>
              </a:rPr>
              <a:t>4.  </a:t>
            </a:r>
            <a:r>
              <a:rPr sz="1250" b="0">
                <a:solidFill>
                  <a:srgbClr val="333333"/>
                </a:solidFill>
                <a:latin typeface="Calibri"/>
              </a:rPr>
              <a:t>DEVOLUCION se liga a la línea (no solo a la orden) para que la devolución parcial sea inequívoca.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3D7A52"/>
                </a:solidFill>
                <a:latin typeface="Calibri"/>
              </a:rPr>
              <a:t>5.  </a:t>
            </a:r>
            <a:r>
              <a:rPr sz="1250" b="0">
                <a:solidFill>
                  <a:srgbClr val="333333"/>
                </a:solidFill>
                <a:latin typeface="Calibri"/>
              </a:rPr>
              <a:t>CANAL se modela como catálogo propio aunque en la fuente venga como texto.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3D7A52"/>
                </a:solidFill>
                <a:latin typeface="Calibri"/>
              </a:rPr>
              <a:t>6.  </a:t>
            </a:r>
            <a:r>
              <a:rPr sz="1250" b="0">
                <a:solidFill>
                  <a:srgbClr val="333333"/>
                </a:solidFill>
                <a:latin typeface="Calibri"/>
              </a:rPr>
              <a:t>MOVIMIENTO_LEALTAD es una extensión propuesta: las fuentes entregadas no incluyen tabla de puntos, por lo que se documenta como dato faltante.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14400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5634"/>
                </a:solidFill>
                <a:latin typeface="Calibri"/>
              </a:rPr>
              <a:t>3) Esquema estrella del Data Mart de Ventas</a:t>
            </a:r>
          </a:p>
        </p:txBody>
      </p:sp>
      <p:pic>
        <p:nvPicPr>
          <p:cNvPr id="3" name="Picture 2" descr="estrella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628" y="1389888"/>
            <a:ext cx="8955463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MODELO DIMENSIONAL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A5634"/>
                </a:solidFill>
                <a:latin typeface="Calibri"/>
              </a:rPr>
              <a:t>4) Definición del grano de la tabla de hechos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011680"/>
            <a:ext cx="10332720" cy="1188720"/>
          </a:xfrm>
          <a:prstGeom prst="roundRect">
            <a:avLst>
              <a:gd name="adj" fmla="val 7000"/>
            </a:avLst>
          </a:prstGeom>
          <a:solidFill>
            <a:srgbClr val="1A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508760" y="2231136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AFD4BD"/>
                </a:solidFill>
                <a:latin typeface="Calibri"/>
              </a:rPr>
              <a:t>GRANO DE FACT_VENTAS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una variante de producto vendida dentro de una línea de una orden de compra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3493008"/>
            <a:ext cx="10332720" cy="141732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435608" y="3694176"/>
            <a:ext cx="974750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A5634"/>
                </a:solidFill>
                <a:latin typeface="Calibri"/>
              </a:rPr>
              <a:t>Justificación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El cliente necesita analizar el comportamiento por talla y color, y una sola orden no puede contener muchas tallas y colores diferentes. Si el grano fuera «una orden», no se podría separar cuánto se vendió de cada variante dentro de esa orden.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MODELO DIMENSIONAL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A5634"/>
                </a:solidFill>
                <a:latin typeface="Calibri"/>
              </a:rPr>
              <a:t>5) Dimensiones y justificación de cada una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011680"/>
            <a:ext cx="3310128" cy="155448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62456" y="2212848"/>
            <a:ext cx="28712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DIM_CLIENTE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Permite analizar el comportamiento de compra por nivel de lealtad, ciudad y antigüedad. Necesaria para la pregunta sobre puntos de lealtad.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4296" y="2011680"/>
            <a:ext cx="3310128" cy="155448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873752" y="2212848"/>
            <a:ext cx="28712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DIM_PRODUCTO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Compuesta por Variantes y Productos del ER. La más importante: el cliente exige analizar por variante y no por producto general.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2011680"/>
            <a:ext cx="3310128" cy="155448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85048" y="2212848"/>
            <a:ext cx="28712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DIM_SUCURSAL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Ciudad, región y tipo de tienda. Referenciada dos veces con dos roles (venta y entrega) para distinguir online de click &amp; collect.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749039"/>
            <a:ext cx="3310128" cy="155448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62456" y="3950207"/>
            <a:ext cx="28712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DIM_CANAL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Representa el canal de la venta. Se complementa con DIM_SUCURSAL: diferencia canal de compra de canal de entrega.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4296" y="3749039"/>
            <a:ext cx="3310128" cy="155448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73752" y="3950207"/>
            <a:ext cx="28712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DIM_TIEMPO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Fecha, año, mes, trimestre y temporada comercial. Necesaria para el análisis histórico y de tendencia por temporada.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3749039"/>
            <a:ext cx="3310128" cy="155448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85048" y="3950207"/>
            <a:ext cx="2871216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DIM_CUPON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Tipo, valor y vigencia del cupón usado. Necesaria para responder la pregunta sobre uso de cupones.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MODELO DIMENSIONAL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6) Métricas y reglas de cálculo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2011680"/>
          <a:ext cx="1033272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1206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91440" marR="73152" marT="27432" marB="27432" anchor="ctr">
                    <a:solidFill>
                      <a:srgbClr val="1A5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Regla de cálculo</a:t>
                      </a:r>
                    </a:p>
                  </a:txBody>
                  <a:tcPr marL="91440" marR="73152" marT="27432" marB="27432" anchor="ctr">
                    <a:solidFill>
                      <a:srgbClr val="1A5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Qué representa</a:t>
                      </a:r>
                    </a:p>
                  </a:txBody>
                  <a:tcPr marL="91440" marR="73152" marT="27432" marB="27432" anchor="ctr">
                    <a:solidFill>
                      <a:srgbClr val="1A563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5634"/>
                          </a:solidFill>
                          <a:latin typeface="Calibri"/>
                        </a:rPr>
                        <a:t>cantidad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630C"/>
                          </a:solidFill>
                          <a:latin typeface="Calibri"/>
                        </a:rPr>
                        <a:t>viene de ORDEN_DETALLE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Unidades vendidas en la línea. Se puede sumar en cualquier dimensión (tienda, colección, fecha).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5634"/>
                          </a:solidFill>
                          <a:latin typeface="Calibri"/>
                        </a:rPr>
                        <a:t>precio_lista_total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630C"/>
                          </a:solidFill>
                          <a:latin typeface="Calibri"/>
                        </a:rPr>
                        <a:t>precio_lista · cantidad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Valor de la línea al precio original de lista, sin descuento.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5634"/>
                          </a:solidFill>
                          <a:latin typeface="Calibri"/>
                        </a:rPr>
                        <a:t>descuento_total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630C"/>
                          </a:solidFill>
                          <a:latin typeface="Calibri"/>
                        </a:rPr>
                        <a:t>descuento · cantidad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Monto total descontado en esa línea; necesario para el desempeño de liquidaciones y promociones.</a:t>
                      </a:r>
                    </a:p>
                  </a:txBody>
                  <a:tcPr marL="91440" marR="73152" marT="27432" marB="27432" anchor="ctr">
                    <a:solidFill>
                      <a:srgbClr val="EAF2E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5634"/>
                          </a:solidFill>
                          <a:latin typeface="Calibri"/>
                        </a:rPr>
                        <a:t>venta_neta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630C"/>
                          </a:solidFill>
                          <a:latin typeface="Calibri"/>
                        </a:rPr>
                        <a:t>precio_venta · cantidad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Monto real vendido después de descuentos.</a:t>
                      </a:r>
                    </a:p>
                  </a:txBody>
                  <a:tcPr marL="91440" marR="73152" marT="27432" marB="27432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MODELO FÍSICO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7) Script DDL comentado  (1/3)</a:t>
            </a:r>
          </a:p>
        </p:txBody>
      </p:sp>
      <p:pic>
        <p:nvPicPr>
          <p:cNvPr id="4" name="Picture 3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62493"/>
            <a:ext cx="5029200" cy="1654020"/>
          </a:xfrm>
          <a:prstGeom prst="rect">
            <a:avLst/>
          </a:prstGeom>
        </p:spPr>
      </p:pic>
      <p:pic>
        <p:nvPicPr>
          <p:cNvPr id="5" name="Picture 4" descr="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371987"/>
            <a:ext cx="5029200" cy="1035033"/>
          </a:xfrm>
          <a:prstGeom prst="rect">
            <a:avLst/>
          </a:prstGeom>
        </p:spPr>
      </p:pic>
      <p:pic>
        <p:nvPicPr>
          <p:cNvPr id="6" name="Picture 5" descr="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078" y="3913632"/>
            <a:ext cx="4373042" cy="1755648"/>
          </a:xfrm>
          <a:prstGeom prst="rect">
            <a:avLst/>
          </a:prstGeom>
        </p:spPr>
      </p:pic>
      <p:pic>
        <p:nvPicPr>
          <p:cNvPr id="7" name="Picture 6" descr="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985672"/>
            <a:ext cx="5029200" cy="16115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MODELO FÍSICO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7) Script DDL comentado  (2/3)</a:t>
            </a:r>
          </a:p>
        </p:txBody>
      </p:sp>
      <p:pic>
        <p:nvPicPr>
          <p:cNvPr id="4" name="Picture 3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31" y="2011680"/>
            <a:ext cx="4507336" cy="1755648"/>
          </a:xfrm>
          <a:prstGeom prst="rect">
            <a:avLst/>
          </a:prstGeom>
        </p:spPr>
      </p:pic>
      <p:pic>
        <p:nvPicPr>
          <p:cNvPr id="5" name="Picture 4" descr="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029" y="2011680"/>
            <a:ext cx="4554180" cy="1755648"/>
          </a:xfrm>
          <a:prstGeom prst="rect">
            <a:avLst/>
          </a:prstGeom>
        </p:spPr>
      </p:pic>
      <p:pic>
        <p:nvPicPr>
          <p:cNvPr id="6" name="Picture 5" descr="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653" y="3913632"/>
            <a:ext cx="3773892" cy="1755648"/>
          </a:xfrm>
          <a:prstGeom prst="rect">
            <a:avLst/>
          </a:prstGeom>
        </p:spPr>
      </p:pic>
      <p:pic>
        <p:nvPicPr>
          <p:cNvPr id="7" name="Picture 6" descr="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570" y="3913632"/>
            <a:ext cx="2753098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MODELO FÍSICO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7) Script DDL comentado  (3/3)</a:t>
            </a:r>
          </a:p>
        </p:txBody>
      </p:sp>
      <p:pic>
        <p:nvPicPr>
          <p:cNvPr id="4" name="Picture 3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60664"/>
            <a:ext cx="5029200" cy="1457678"/>
          </a:xfrm>
          <a:prstGeom prst="rect">
            <a:avLst/>
          </a:prstGeom>
        </p:spPr>
      </p:pic>
      <p:pic>
        <p:nvPicPr>
          <p:cNvPr id="5" name="Picture 4" descr="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055" y="2011680"/>
            <a:ext cx="4854129" cy="1755648"/>
          </a:xfrm>
          <a:prstGeom prst="rect">
            <a:avLst/>
          </a:prstGeom>
        </p:spPr>
      </p:pic>
      <p:pic>
        <p:nvPicPr>
          <p:cNvPr id="6" name="Picture 5" descr="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421" y="3913632"/>
            <a:ext cx="4588356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TRABAJO CON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8) Evidencia del uso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956816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Pregunta sobre retroalimentación del esquema estrella y del modelado, con las respuestas obtenidas de tres herramientas.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560320"/>
            <a:ext cx="3310128" cy="105156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80744" y="2724912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5634"/>
                </a:solidFill>
                <a:latin typeface="Calibri"/>
              </a:rPr>
              <a:t>Grok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2560320"/>
            <a:ext cx="3310128" cy="105156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92040" y="2724912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5634"/>
                </a:solidFill>
                <a:latin typeface="Calibri"/>
              </a:rPr>
              <a:t>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560320"/>
            <a:ext cx="3310128" cy="105156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03336" y="2724912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5634"/>
                </a:solidFill>
                <a:latin typeface="Calibri"/>
              </a:rPr>
              <a:t>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31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F5F"/>
                </a:solidFill>
                <a:latin typeface="Calibri"/>
              </a:rPr>
              <a:t>Las capturas de los prompts y de las respuestas obtenidas se incluyen en el reporte.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9) Cómo el modelo responde al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9933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D7A5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1912" y="2011680"/>
            <a:ext cx="98938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Ventas por temporada, colección, talla, color y categoría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FACT_VENTAS con DIM_PRODUCTO a través de producto_key, agregando cantidad o venta_neta y agrupando por cualquiera de esos atributos.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D7A5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2761488"/>
            <a:ext cx="98938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Desempeño de liquidaciones y promociones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Se agrupa venta_neta y cantidad por el atributo tipo_precio: regular, liquidación o promoción.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930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D7A5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3511296"/>
            <a:ext cx="98938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Ventas por tienda, región y canal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Se une FACT_VENTAS con DIM_SUCURSAL (sucursal_venta_key) y con DIM_CANAL (canal_key).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4281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D7A52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4261104"/>
            <a:ext cx="98938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Comparativo de venta online vs click &amp; collect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Se compara sucursal_venta_key contra sucursal_entrega_key dentro de la misma fila de FACT_VENTAS.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9926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D7A52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5010912"/>
            <a:ext cx="98938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A5634"/>
                </a:solidFill>
                <a:latin typeface="Calibri"/>
              </a:rPr>
              <a:t>Uso de cupones y puntos de lealtad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Se une FACT_VENTAS con DIM_CUPON por cupon_key, y con nivel_lealtad de DIM_CLIENTE.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87552"/>
            <a:ext cx="10332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D7A52"/>
                </a:solidFill>
                <a:latin typeface="Calibri"/>
              </a:rPr>
              <a:t>FORMATO 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Bibliografía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Stryker, I. B. C. (2026, 27 mayo). ¿Qué es un diagrama de relación entre entidades? https://www.ibm.com/mx-es/think/topics/entity-relationship-diagram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De Databricks, P. (2022, 21 abril). ¿Qué es el esquema en estrella? Databricks. https://www.databricks.com/es/blog/what-is-star-schema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2801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5634"/>
                </a:solidFill>
                <a:latin typeface="Calibri"/>
              </a:rPr>
              <a:t>Conclusiones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2011680"/>
            <a:ext cx="10332720" cy="100584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17320" y="2194560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A5634"/>
                </a:solidFill>
                <a:latin typeface="Calibri"/>
              </a:rPr>
              <a:t>Antonio André Martínez Martínez    </a:t>
            </a:r>
            <a:r>
              <a:rPr sz="1250" b="0">
                <a:solidFill>
                  <a:srgbClr val="5F5F5F"/>
                </a:solidFill>
                <a:latin typeface="Calibri"/>
              </a:rPr>
              <a:t>2094967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F5F5F"/>
                </a:solidFill>
                <a:latin typeface="Calibr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255264"/>
            <a:ext cx="10332720" cy="100584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417320" y="3438144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A5634"/>
                </a:solidFill>
                <a:latin typeface="Calibri"/>
              </a:rPr>
              <a:t>Erick Morán Guillén    </a:t>
            </a:r>
            <a:r>
              <a:rPr sz="1250" b="0">
                <a:solidFill>
                  <a:srgbClr val="5F5F5F"/>
                </a:solidFill>
                <a:latin typeface="Calibri"/>
              </a:rPr>
              <a:t>2103747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F5F5F"/>
                </a:solidFill>
                <a:latin typeface="Calibr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498848"/>
            <a:ext cx="10332720" cy="100584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417320" y="4681728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A5634"/>
                </a:solidFill>
                <a:latin typeface="Calibri"/>
              </a:rPr>
              <a:t>Jean Leo Ramírez    </a:t>
            </a:r>
            <a:r>
              <a:rPr sz="1250" b="0">
                <a:solidFill>
                  <a:srgbClr val="5F5F5F"/>
                </a:solidFill>
                <a:latin typeface="Calibri"/>
              </a:rPr>
              <a:t>2102785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F5F5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78892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4600" b="1" i="0">
                <a:solidFill>
                  <a:srgbClr val="1A5634"/>
                </a:solidFill>
                <a:latin typeface="Calibri"/>
              </a:rPr>
              <a:t>¡GRACIAS!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F5F5F"/>
                </a:solidFill>
                <a:latin typeface="Calibri"/>
              </a:rPr>
              <a:t>Equipo 3 · Analítica e Inteligencia de Negocios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B9C439CA75C6F4784222C4DF2B6280F" ma:contentTypeVersion="0" ma:contentTypeDescription="Crear nuevo documento." ma:contentTypeScope="" ma:versionID="b92e80b61692c185f6008315d86e32c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6ff3a126252e742cc2543983a566b0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F67B68-BEE4-4EA4-89A1-AD1A968FAB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272ACF-E8E6-4DE2-AB47-9840A0B4E5F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B235288-54C2-40AF-9D01-57B92A4BC2B0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575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CiscoSans</vt:lpstr>
      <vt:lpstr>Courier New</vt:lpstr>
      <vt:lpstr>Tema de Office</vt:lpstr>
      <vt:lpstr>PowerPoint Presentation</vt:lpstr>
      <vt:lpstr>20.2.5 Estándares de Comunicación de Inteligencia contra amenazas </vt:lpstr>
      <vt:lpstr>Análisis de vulnerabilidad de los sistemas operativos que se utilizan en los servidores. </vt:lpstr>
      <vt:lpstr>PowerPoint Presentation</vt:lpstr>
      <vt:lpstr>Conclusiones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mtz.raquel1@outlook.es</dc:creator>
  <cp:lastModifiedBy>Mr Miguel G</cp:lastModifiedBy>
  <cp:revision>51</cp:revision>
  <dcterms:created xsi:type="dcterms:W3CDTF">2021-01-11T15:50:16Z</dcterms:created>
  <dcterms:modified xsi:type="dcterms:W3CDTF">2026-01-19T18:02:08Z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0x010100EB9C439CA75C6F4784222C4DF2B6280F</vt:lpwstr>
  </property>
</Properties>
</file>